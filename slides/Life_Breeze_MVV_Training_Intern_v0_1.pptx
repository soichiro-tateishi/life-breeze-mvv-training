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今日は60分でLife BreezeのMVVを学びます。暗記テストはしません。自分の言葉で語れるようになることがゴールです。（1分）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最後に、自分の30日アクションを1つ決めて帰ってもらいます。ワークが3回あります。（2分）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週8時間という数字をゆっくり伝える。「みなさんの自由時間は1日何時間？」と問いかけ、想像させる間を取る。同情ではなく課題として客観的に。（4分）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Selfieというブランド名を紹介。"自走"がキーワード。日本から指示し続ける状態は成功ではない。（3分）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A/Bを否定しない。目的意識で成果が変わるメッセージに絞る。「みなさんは今どれに近い？」と軽く問いかけ。（2分）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海外事業の文化の違いを具体例で。「MVVは飾りではなく実務ツール」と強調。（3分）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セクション見出し。長くしない。「ここから具体的なMVVの中身に入ります」と予告。（1分）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Missionを声に出して読む。参加者にも。「笑顔」「可能性」「めぐる」の3語を分解。「洗濯機を届けることがゴールじゃない」。英語版も読み上げる。（3分）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Visionを声に出して読む。「時間を力に変える」の具体例を情景として語る。英語版も読み上げる。（3分）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英語のまま読み上げ、「時間はお金ではない。世界を変える力だ」と訳す。Life Breezeは支援団体ではなく事業会社。（3分）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5つを一覧で見せ全体像を把握。個別の説明はこの後。（2分）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各Value 1分で説明。「インターンの実践」を特に強調。（3分）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4は「学びを独占しない」。Value 5は「自分がいなくなっても続くか？」。自分中心ではなくつながりの中で考える。（3分）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4ステップを順に説明。「暗記しなくてOK。迷ったときにこのスライドを見返せばいい。」（3分）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「正解はありません。直感でOK。」タイマーを見せる。3分で書いて2分で共有。（5分）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インターンの日常に近いケース。正解は1つではない。「Yes, if...」か「No, because... &amp; option」の型で。2分で考え、2分で共有。（5分）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「大きなことでなくていい。小さくても完了できるもの。」タイマーで4分。抽象的な宣言には「具体的にすると？」と質問。2-3名に発表。（7分）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Mission→Vision→Valuesを一言ずつ振り返る。「MVVは飾りではなく、明日から使う判断基準です。30日後に振り返りましょう。」（5分）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C4E8"/>
                </a:solidFill>
                <a:latin typeface="Inter"/>
              </a:defRPr>
            </a:pPr>
            <a:r>
              <a:t>2026.XX.XX  |  Intern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Noto Sans JP"/>
              </a:defRPr>
            </a:pPr>
            <a:r>
              <a:t>Life Breeze</a:t>
            </a:r>
            <a:br/>
            <a:r>
              <a:t>MVV研修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108960"/>
            <a:ext cx="1371600" cy="6400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Noto Sans JP"/>
              </a:defRPr>
            </a:pPr>
            <a:r>
              <a:t>MVVを知り、自分の行動につなげる</a:t>
            </a:r>
            <a:br/>
            <a:r>
              <a:t>Learn our MVV. Connect it to your 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5486400"/>
            <a:ext cx="25603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5440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5760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AACC"/>
                </a:solidFill>
                <a:latin typeface="Inter"/>
              </a:defRPr>
            </a:pPr>
            <a:r>
              <a:t>Global Expansion Strategy Team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731520"/>
            <a:ext cx="3200400" cy="3200400"/>
          </a:xfrm>
          <a:prstGeom prst="ellipse">
            <a:avLst/>
          </a:prstGeom>
          <a:solidFill>
            <a:srgbClr val="224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今日のゴール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Today's Goal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73152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972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Noto Sans JP"/>
              </a:defRPr>
            </a:pPr>
            <a:r>
              <a:t>MVVを"暗記"ではなく</a:t>
            </a:r>
            <a:br/>
            <a:r>
              <a:t>"自分の行動指針"にする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54864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2140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なぜこの事業をするのか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  <a:r>
              <a:t>（起点）</a:t>
            </a: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Why this business?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063240"/>
            <a:ext cx="54864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7296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何を目指すのか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7472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  <a:r>
              <a:t>（MVV）</a:t>
            </a: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What we aim for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114800"/>
            <a:ext cx="54864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29768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2452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どう動くのか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2628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  <a:r>
              <a:t>（行動への翻訳）</a:t>
            </a: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How we 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16636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166360"/>
            <a:ext cx="54864" cy="8229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534924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7608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自分のアクションを決める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7784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Decide your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Life Breezeの原点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Our Origin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5156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02C"/>
                </a:solidFill>
                <a:latin typeface="Noto Sans JP"/>
              </a:defRPr>
            </a:pPr>
            <a:r>
              <a:t>週8時間、手で洗濯する人がいる。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512064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54864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時間の喪失 / Time Lost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洗濯に時間が取られ、</a:t>
            </a:r>
            <a:br/>
            <a:r>
              <a:t>学び・仕事・家族・夢が後回しになる</a:t>
            </a:r>
          </a:p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Children can't study. Mothers can't work.</a:t>
            </a:r>
            <a:br/>
            <a:r>
              <a:t>Dreams are put on 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12064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011680"/>
            <a:ext cx="54864" cy="22860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インフラの不安定さ / Unstable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231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電気・水の供給が不安定で、</a:t>
            </a:r>
            <a:br/>
            <a:r>
              <a:t>家事負担がさらに増大している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93776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914400"/>
          <a:lstStyle/>
          <a:p>
            <a:pPr algn="ctr">
              <a:defRPr sz="1800" b="1">
                <a:solidFill>
                  <a:srgbClr val="FFFFFF"/>
                </a:solidFill>
                <a:latin typeface="Noto Sans JP"/>
              </a:defRPr>
            </a:pPr>
            <a:r>
              <a:t>洗濯は"家事"ではなく、挑戦の時間を奪う「インフラ課題」だった。</a:t>
            </a:r>
          </a:p>
          <a:p>
            <a:pPr algn="ctr">
              <a:defRPr sz="1100">
                <a:solidFill>
                  <a:srgbClr val="A0C4E8"/>
                </a:solidFill>
                <a:latin typeface="Inter"/>
              </a:defRPr>
            </a:pPr>
            <a:r>
              <a:t>Laundry was not a chore — it was an infrastructure problem stealing time for ambition.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私たちの事業は何か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What We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5156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Noto Sans JP"/>
              </a:defRPr>
            </a:pPr>
            <a:r>
              <a:t>"店舗を増やす"のではなく</a:t>
            </a:r>
            <a:br/>
            <a:r>
              <a:t>"自走できる仕組み"を届ける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10820095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54864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手段と目的 / Means &amp;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店舗は「手段」。</a:t>
            </a:r>
            <a:br/>
            <a:r>
              <a:t>目的は、現地の人の生活の自由度を上げること。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10820095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54864" cy="10515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自走する仕組み / Self-reliance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日本人がいなくても回る状態を</a:t>
            </a:r>
            <a:br/>
            <a:r>
              <a:t>作ることが成功。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80560"/>
            <a:ext cx="10820095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480560"/>
            <a:ext cx="54864" cy="1051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展開状況 /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稼働中: モザンビーク、ケニア（4店舗）</a:t>
            </a:r>
            <a:br/>
            <a:r>
              <a:t>準備中: リベリア、ガボン、マダガスカル</a:t>
            </a:r>
            <a:br/>
            <a:r>
              <a:t>対象人口: 約8,700万人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レンガ職人の話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The Bricklayer's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5156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Noto Sans JP"/>
              </a:defRPr>
            </a:pPr>
            <a:r>
              <a:t>同じ仕事でも「目的」が違うと成果が変わる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3200400" cy="2286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Renovation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02C"/>
                </a:solidFill>
                <a:latin typeface="Noto Sans JP"/>
              </a:defRPr>
            </a:pPr>
            <a:r>
              <a:t>ただ作業をしている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Noto Sans JP"/>
              </a:defRPr>
            </a:pPr>
            <a:r>
              <a:t>（労働）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Just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Noto Sans JP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103120"/>
            <a:ext cx="3200400" cy="228600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56DB"/>
                </a:solidFill>
                <a:latin typeface="Inter"/>
              </a:defRPr>
            </a:pPr>
            <a:r>
              <a:t>Renovation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02C"/>
                </a:solidFill>
                <a:latin typeface="Noto Sans JP"/>
              </a:defRPr>
            </a:pPr>
            <a:r>
              <a:t>壁を作っている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91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Noto Sans JP"/>
              </a:defRPr>
            </a:pPr>
            <a:r>
              <a:t>（職業・対価）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Building a wall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Noto Sans JP"/>
              </a:defRPr>
            </a:pPr>
            <a: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103120"/>
            <a:ext cx="3200400" cy="2286000"/>
          </a:xfrm>
          <a:prstGeom prst="roundRect">
            <a:avLst/>
          </a:prstGeom>
          <a:solidFill>
            <a:srgbClr val="FDE8EB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1E3A"/>
                </a:solidFill>
                <a:latin typeface="Inter"/>
              </a:defRPr>
            </a:pPr>
            <a:r>
              <a:t>Renovation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02C"/>
                </a:solidFill>
                <a:latin typeface="Noto Sans JP"/>
              </a:defRPr>
            </a:pPr>
            <a:r>
              <a:t>街（未来）を作っている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291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Noto Sans JP"/>
              </a:defRPr>
            </a:pPr>
            <a:r>
              <a:t>（使命・Vision）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Building a city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93776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914400"/>
          <a:lstStyle/>
          <a:p>
            <a:pPr algn="ctr">
              <a:defRPr sz="1800" b="1">
                <a:solidFill>
                  <a:srgbClr val="FFFFFF"/>
                </a:solidFill>
                <a:latin typeface="Noto Sans JP"/>
              </a:defRPr>
            </a:pPr>
            <a:r>
              <a:t>私たちは「未来の仕組み」を作る側でいたい。</a:t>
            </a:r>
          </a:p>
          <a:p>
            <a:pPr algn="ctr">
              <a:defRPr sz="1100">
                <a:solidFill>
                  <a:srgbClr val="A0C4E8"/>
                </a:solidFill>
                <a:latin typeface="Inter"/>
              </a:defRPr>
            </a:pPr>
            <a:r>
              <a:t>We aspire to be the creators of future systems.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なぜMVVが必要か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Why MVV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5156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Noto Sans JP"/>
              </a:defRPr>
            </a:pPr>
            <a:r>
              <a:t>正解がすぐに見えないからこそ、</a:t>
            </a:r>
            <a:br/>
            <a:r>
              <a:t>判断軸が必要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10820095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54864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文化・常識・言語が違うほど、意思決定が割れる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前提共有に時間がかかり、現場が止まる原因になる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10820095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337560"/>
            <a:ext cx="54864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47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迷いはスピードを殺し、信頼を削る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遅い判断は機会損失だけでなく、パートナーの不信感を生む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1082009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572000"/>
            <a:ext cx="54864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MVVは「迷ったときに戻る場所」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個人の感覚ではなく、組織としての共通の判断基準を持つ</a:t>
            </a:r>
            <a:br/>
            <a:r>
              <a:t>MVV is the place you return to when you're lost.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7315200" cy="7315200"/>
          </a:xfrm>
          <a:prstGeom prst="ellipse">
            <a:avLst/>
          </a:prstGeom>
          <a:solidFill>
            <a:srgbClr val="224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"/>
              </a:defRPr>
            </a:pPr>
            <a:r>
              <a:t>WHAT WE</a:t>
            </a:r>
            <a:br/>
            <a:r>
              <a:t>AIM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017520"/>
            <a:ext cx="1645920" cy="6400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Noto Sans JP"/>
              </a:defRPr>
            </a:pPr>
            <a:r>
              <a:t>何 を 目 指 す か</a:t>
            </a:r>
          </a:p>
        </p:txBody>
      </p:sp>
      <p:sp>
        <p:nvSpPr>
          <p:cNvPr id="6" name="Oval 5"/>
          <p:cNvSpPr/>
          <p:nvPr/>
        </p:nvSpPr>
        <p:spPr>
          <a:xfrm>
            <a:off x="2560320" y="4114800"/>
            <a:ext cx="914400" cy="91440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CCEE"/>
                </a:solidFill>
                <a:latin typeface="Noto Sans JP"/>
              </a:defRPr>
            </a:pPr>
            <a:r>
              <a:t>使命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AACC"/>
                </a:solidFill>
                <a:latin typeface="Inter"/>
              </a:defRPr>
            </a:pPr>
            <a:r>
              <a:t>›</a:t>
            </a:r>
          </a:p>
        </p:txBody>
      </p:sp>
      <p:sp>
        <p:nvSpPr>
          <p:cNvPr id="10" name="Oval 9"/>
          <p:cNvSpPr/>
          <p:nvPr/>
        </p:nvSpPr>
        <p:spPr>
          <a:xfrm>
            <a:off x="5120640" y="4114800"/>
            <a:ext cx="914400" cy="91440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CCEE"/>
                </a:solidFill>
                <a:latin typeface="Noto Sans JP"/>
              </a:defRPr>
            </a:pPr>
            <a:r>
              <a:t>将来像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AACC"/>
                </a:solidFill>
                <a:latin typeface="Inter"/>
              </a:defRPr>
            </a:pPr>
            <a:r>
              <a:t>›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4114800"/>
            <a:ext cx="914400" cy="91440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CCEE"/>
                </a:solidFill>
                <a:latin typeface="Noto Sans JP"/>
              </a:defRPr>
            </a:pPr>
            <a:r>
              <a:t>行動指針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Mission（使命）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097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DDDDEE"/>
                </a:solidFill>
                <a:latin typeface="Noto Sans JP"/>
              </a:defRPr>
            </a:pPr>
            <a:r>
              <a:t>❝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202C"/>
                </a:solidFill>
                <a:latin typeface="Noto Sans JP"/>
              </a:defRPr>
            </a:pPr>
            <a:r>
              <a:t>笑顔と可能性がめぐる未来をつくる。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t>Create a future where smiles and possibilities grow.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Noto Sans JP"/>
              </a:defRPr>
            </a:pPr>
            <a:r>
              <a:t>洗濯機を届けるのではなく、笑顔と可能性が人・地域・未来へ広がっていく状態をつくる。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33832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474720"/>
            <a:ext cx="54864" cy="1828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4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「笑顔」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生活が前に進む実感</a:t>
            </a:r>
          </a:p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Smiles = the feeling of</a:t>
            </a:r>
            <a:br/>
            <a:r>
              <a:t>life moving forward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474720"/>
            <a:ext cx="33832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474720"/>
            <a:ext cx="54864" cy="1828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584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「可能性」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時間が戻り、選択肢が増えること</a:t>
            </a:r>
          </a:p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Possibilities = more time,</a:t>
            </a:r>
            <a:br/>
            <a:r>
              <a:t>more choices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3474720"/>
            <a:ext cx="3383280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3474720"/>
            <a:ext cx="54864" cy="1828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584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「めぐる」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一人で終わらず、次へつながること</a:t>
            </a:r>
          </a:p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Grow = spreading to the</a:t>
            </a:r>
            <a:br/>
            <a:r>
              <a:t>next person, next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Vision（将来像）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1097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DDDDEE"/>
                </a:solidFill>
                <a:latin typeface="Noto Sans JP"/>
              </a:defRPr>
            </a:pPr>
            <a:r>
              <a:t>❝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02C"/>
                </a:solidFill>
                <a:latin typeface="Noto Sans JP"/>
              </a:defRPr>
            </a:pPr>
            <a:r>
              <a:t>誰もが、自分の時間を力に変え、</a:t>
            </a:r>
            <a:br/>
            <a:r>
              <a:t>前へ進める世界をつくる。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Inter"/>
              </a:defRPr>
            </a:pPr>
            <a:r>
              <a:t>Build a world where people turn time into strength and move forward.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Noto Sans JP"/>
              </a:defRPr>
            </a:pPr>
            <a:r>
              <a:t>時間はただ減らす対象ではなく、人を前に進める力そのもの。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91840"/>
            <a:ext cx="338328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291840"/>
            <a:ext cx="54864" cy="1554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01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労働からの解放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洗濯が"丸一日仕事"</a:t>
            </a:r>
            <a:br/>
            <a:r>
              <a:t>ではなくなる</a:t>
            </a:r>
          </a:p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Freedom from labor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291840"/>
            <a:ext cx="338328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291840"/>
            <a:ext cx="54864" cy="1554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01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未来への投資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033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子どもは学びへ</a:t>
            </a:r>
            <a:br/>
            <a:r>
              <a:t>大人は仕事や挑戦へ</a:t>
            </a:r>
          </a:p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Investment in the future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3291840"/>
            <a:ext cx="338328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3291840"/>
            <a:ext cx="54864" cy="1554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401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豊かさの実感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7033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家族の時間が増え</a:t>
            </a:r>
            <a:br/>
            <a:r>
              <a:t>本来の生活が戻ってくる</a:t>
            </a:r>
          </a:p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Sense of abundance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914400"/>
          <a:lstStyle/>
          <a:p>
            <a:pPr algn="ctr">
              <a:defRPr sz="1800" b="1">
                <a:solidFill>
                  <a:srgbClr val="FFFFFF"/>
                </a:solidFill>
                <a:latin typeface="Noto Sans JP"/>
              </a:defRPr>
            </a:pPr>
            <a:r>
              <a:t>「当たり前」が変わる ＝ 社会が変わる</a:t>
            </a:r>
          </a:p>
          <a:p>
            <a:pPr algn="ctr">
              <a:defRPr sz="1100">
                <a:solidFill>
                  <a:srgbClr val="A0C4E8"/>
                </a:solidFill>
                <a:latin typeface="Inter"/>
              </a:defRPr>
            </a:pPr>
            <a:r>
              <a:t>Changing the norm means changing society.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Inter"/>
              </a:defRPr>
            </a:pPr>
            <a:r>
              <a:t>Time is not money —</a:t>
            </a:r>
            <a:br/>
            <a:r>
              <a:t>it's the power to</a:t>
            </a:r>
            <a:br/>
            <a:r>
              <a:t>change the world.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00400"/>
            <a:ext cx="210312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JP"/>
              </a:defRPr>
            </a:pPr>
            <a:r>
              <a:t>支援じゃない。一緒に、事業をつくる。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BDD"/>
                </a:solidFill>
                <a:latin typeface="Inter"/>
              </a:defRPr>
            </a:pPr>
            <a:r>
              <a:t>Not aid. Building a business together. That's Life Breeze.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AACC"/>
                </a:solidFill>
                <a:latin typeface="Noto Sans JP"/>
              </a:defRPr>
            </a:pPr>
            <a:r>
              <a:t>手洗い洗濯に週約8時間かかる現実を変える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AACC"/>
                </a:solidFill>
                <a:latin typeface="Noto Sans JP"/>
              </a:defRPr>
            </a:pPr>
            <a:r>
              <a:t>戻った時間が、教育・仕事・家族・夢につながる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Values（行動指針）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Our 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5156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Noto Sans JP"/>
              </a:defRPr>
            </a:pPr>
            <a:r>
              <a:t>5つの行動指針が、私たちの動き方を決める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54864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996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まず現場に立つ。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Start from the ground.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8892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788920"/>
            <a:ext cx="54864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297180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9864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知ろうとし続ける。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0040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Stay curious. Stay humble.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657600"/>
            <a:ext cx="54864" cy="8229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6732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笑顔につながる価値をつくる。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6908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Create value that leads to smiles.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2628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526280"/>
            <a:ext cx="54864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470916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3600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受けた価値を、次へつなぐ。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93776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Pay forward the value you receive.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394960"/>
            <a:ext cx="10820095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394960"/>
            <a:ext cx="54864" cy="82296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5577840"/>
            <a:ext cx="457200" cy="457200"/>
          </a:xfrm>
          <a:prstGeom prst="ellipse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JP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504688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利他で考え、続く形にする。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806440"/>
            <a:ext cx="9814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Noto Sans JP"/>
              </a:defRPr>
            </a:pPr>
          </a:p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Think beyond yourself. Make it last.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Values — 現場・好奇心・笑顔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10820095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54864" cy="1645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Value 1: まず現場に立つ。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447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Start from the ground.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アフリカの現実は、日本の会議室では見えない。</a:t>
            </a:r>
            <a:br/>
            <a:r>
              <a:t>だから私たちは、まず現地に足を運ぶ。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234440"/>
            <a:ext cx="4572000" cy="1371600"/>
          </a:xfrm>
          <a:prstGeom prst="round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32588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3A5C"/>
                </a:solidFill>
                <a:latin typeface="Noto Sans JP"/>
              </a:defRPr>
            </a:pPr>
            <a:r>
              <a:t>インターンの実践: 情報は二次情報で止めず、自分の目で確かめる。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10820095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26080"/>
            <a:ext cx="54864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Value 2: 知ろうとし続ける。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735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Stay curious. Stay humble.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自分たちはまだ知らないことだらけだ。</a:t>
            </a:r>
            <a:br/>
            <a:r>
              <a:t>だからこそ、学び続けることをやめない。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063240"/>
            <a:ext cx="4572000" cy="1371600"/>
          </a:xfrm>
          <a:prstGeom prst="round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15468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3A5C"/>
                </a:solidFill>
                <a:latin typeface="Noto Sans JP"/>
              </a:defRPr>
            </a:pPr>
            <a:r>
              <a:t>インターンの実践: 「わかったつもり」にならず、会議で最低1回は質問する。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10820095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754880"/>
            <a:ext cx="54864" cy="1645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Value 3: 笑顔につながる価値をつくる。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023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Create value that leads to smiles.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作業を終わらせることが仕事ではない。</a:t>
            </a:r>
            <a:br/>
            <a:r>
              <a:t>その先に誰かの笑顔があるかどうかを問い続ける。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892040"/>
            <a:ext cx="4572000" cy="1371600"/>
          </a:xfrm>
          <a:prstGeom prst="round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98348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3A5C"/>
                </a:solidFill>
                <a:latin typeface="Noto Sans JP"/>
              </a:defRPr>
            </a:pPr>
            <a:r>
              <a:t>インターンの実践: タスクの先にいる「誰か」を常に意識する。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Values — つなぐ・利他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10820095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54864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02C"/>
                </a:solidFill>
                <a:latin typeface="Noto Sans JP"/>
              </a:defRPr>
            </a:pPr>
            <a:r>
              <a:t>Value 4: 受けた価値を、次へつなぐ。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Pay forward the value you receive.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Noto Sans JP"/>
              </a:defRPr>
            </a:pPr>
            <a:r>
              <a:t>学び・機会・成功体験を自分のところで止めない。</a:t>
            </a:r>
            <a:br/>
            <a:r>
              <a:t>次の人へ、次の地域へ、次の国へ渡していく。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4572000" cy="1645920"/>
          </a:xfrm>
          <a:prstGeom prst="round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5544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3A5C"/>
                </a:solidFill>
                <a:latin typeface="Noto Sans JP"/>
              </a:defRPr>
            </a:pPr>
            <a:r>
              <a:t>インターンの実践: 学んだことを言語化し、Notionやチャットでチームに共有する。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10820095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54864" cy="22860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02C"/>
                </a:solidFill>
                <a:latin typeface="Noto Sans JP"/>
              </a:defRPr>
            </a:pPr>
            <a:r>
              <a:t>Value 5: 利他で考え、続く形にする。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965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Think beyond yourself. Make it last.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Noto Sans JP"/>
              </a:defRPr>
            </a:pPr>
            <a:r>
              <a:t>自分だけが得をする仕組みは長続きしない。</a:t>
            </a:r>
            <a:br/>
            <a:r>
              <a:t>現地・地域・未来にとっても良い形を、諦めずに設計し続ける。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931920"/>
            <a:ext cx="4572000" cy="1645920"/>
          </a:xfrm>
          <a:prstGeom prst="round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11480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3A5C"/>
                </a:solidFill>
                <a:latin typeface="Noto Sans JP"/>
              </a:defRPr>
            </a:pPr>
            <a:r>
              <a:t>インターンの実践: 「自分がいなくなっても続くか？」を判断基準にする。引き継ぎ資料を残す。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迷ったらこの順番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Decision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10820095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188720"/>
            <a:ext cx="54864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64008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t>STEP</a:t>
            </a:r>
          </a:p>
        </p:txBody>
      </p:sp>
      <p:sp>
        <p:nvSpPr>
          <p:cNvPr id="10" name="Oval 9"/>
          <p:cNvSpPr/>
          <p:nvPr/>
        </p:nvSpPr>
        <p:spPr>
          <a:xfrm>
            <a:off x="1691640" y="128016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Noto Sans JP"/>
              </a:defRPr>
            </a:pPr>
            <a:r>
              <a:t>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325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最優先 / Top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Missionに沿うか？（笑顔と可能性がめぐる未来につながるか）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920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Does it align with our Mission?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Noto Sans JP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423160"/>
            <a:ext cx="10820095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423160"/>
            <a:ext cx="54864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2560320"/>
            <a:ext cx="64008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t>STEP</a:t>
            </a:r>
          </a:p>
        </p:txBody>
      </p:sp>
      <p:sp>
        <p:nvSpPr>
          <p:cNvPr id="19" name="Oval 18"/>
          <p:cNvSpPr/>
          <p:nvPr/>
        </p:nvSpPr>
        <p:spPr>
          <a:xfrm>
            <a:off x="1691640" y="2514600"/>
            <a:ext cx="411480" cy="4114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Noto Sans JP"/>
              </a:defRPr>
            </a:pPr>
            <a:r>
              <a:t>安全 / 法令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Inter"/>
              </a:defRPr>
            </a:pPr>
            <a:r>
              <a:t>絶対遵守 / Non-negotiable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880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安全・法令・倫理はOKか？（誰かを傷つけないか）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154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Is it safe, legal, and ethical?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474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Noto Sans JP"/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657600"/>
            <a:ext cx="10820095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657600"/>
            <a:ext cx="54864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3794760"/>
            <a:ext cx="64008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t>STEP</a:t>
            </a:r>
          </a:p>
        </p:txBody>
      </p:sp>
      <p:sp>
        <p:nvSpPr>
          <p:cNvPr id="28" name="Oval 27"/>
          <p:cNvSpPr/>
          <p:nvPr/>
        </p:nvSpPr>
        <p:spPr>
          <a:xfrm>
            <a:off x="1691640" y="374904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Noto Sans JP"/>
              </a:defRPr>
            </a:pPr>
            <a:r>
              <a:t>信頼 / 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信頼を積むか？（約束・透明性・説明責任）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389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Does it build trust?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709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Noto Sans JP"/>
              </a:defRPr>
            </a:pPr>
            <a: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92040"/>
            <a:ext cx="10820095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892040"/>
            <a:ext cx="54864" cy="10972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8680" y="5029200"/>
            <a:ext cx="640080" cy="320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t>STEP</a:t>
            </a:r>
          </a:p>
        </p:txBody>
      </p:sp>
      <p:sp>
        <p:nvSpPr>
          <p:cNvPr id="36" name="Oval 35"/>
          <p:cNvSpPr/>
          <p:nvPr/>
        </p:nvSpPr>
        <p:spPr>
          <a:xfrm>
            <a:off x="1691640" y="4983480"/>
            <a:ext cx="411480" cy="41148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  <a:latin typeface="Noto Sans JP"/>
              </a:defRPr>
            </a:pPr>
            <a:r>
              <a:t>再現性 / Reproducibility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再現できるか？（型として残せるか？）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6235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Inter"/>
              </a:defRPr>
            </a:pPr>
            <a:r>
              <a:t>Can it be replicated?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320040"/>
            <a:ext cx="146304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WORKSHOP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一番刺さったValueを選ぶ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320040"/>
            <a:ext cx="1645920" cy="411480"/>
          </a:xfrm>
          <a:prstGeom prst="roundRect">
            <a:avLst/>
          </a:prstGeom>
          <a:solidFill>
            <a:srgbClr val="0F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 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02C"/>
                </a:solidFill>
                <a:latin typeface="Noto Sans JP"/>
              </a:defRPr>
            </a:pPr>
            <a:r>
              <a:t>一番刺さったValueを1つ選び、</a:t>
            </a:r>
            <a:br/>
            <a:r>
              <a:t>理由を書いてください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926080"/>
            <a:ext cx="914400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Inter"/>
              </a:defRPr>
            </a:pPr>
            <a: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17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どのValue？ / Which Value?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5つのValueから、最も共感したもの・重要だと思ったものを1つ選ぶ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389120"/>
            <a:ext cx="9144000" cy="1188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Inter"/>
              </a:defRPr>
            </a:pPr>
            <a: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02C"/>
                </a:solidFill>
                <a:latin typeface="Noto Sans JP"/>
              </a:defRPr>
            </a:pPr>
            <a:r>
              <a:t>なぜ刺さった？ / Why?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理由を言語化する（例: 過去の経験から / 今の課題だから / 強みにしたいから）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320040"/>
            <a:ext cx="146304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WORKSHOP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ケーススタディ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320040"/>
            <a:ext cx="1645920" cy="411480"/>
          </a:xfrm>
          <a:prstGeom prst="roundRect">
            <a:avLst/>
          </a:prstGeom>
          <a:solidFill>
            <a:srgbClr val="0F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  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Inter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Inter"/>
              </a:defRPr>
            </a:pPr>
            <a:r>
              <a:t>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83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Noto Sans JP"/>
              </a:defRPr>
            </a:pPr>
            <a:r>
              <a:t>あなたはインターンとして資料を作成中。締切は明日。</a:t>
            </a:r>
            <a:br/>
            <a:r>
              <a:t>上司から「今の資料でいいから今すぐ送って」と言われた。</a:t>
            </a:r>
            <a:br/>
            <a:r>
              <a:t>でも、数字の確認がまだ終わっていない。あなたならどうする？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Noto Sans JP"/>
              </a:defRPr>
            </a:pPr>
            <a:r>
              <a:t>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笑顔と可能性につながる？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108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Noto Sans JP"/>
              </a:defRPr>
            </a:pPr>
            <a:r>
              <a:t>安全/法令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66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誤った数字を出すリスクは？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108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Noto Sans JP"/>
              </a:defRPr>
            </a:pPr>
            <a:r>
              <a:t>信頼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66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相手の信頼を積める？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108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Noto Sans JP"/>
              </a:defRPr>
            </a:pPr>
            <a:r>
              <a:t>再現性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566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Noto Sans JP"/>
              </a:defRPr>
            </a:pPr>
            <a:r>
              <a:t>この対応は型にできる？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480560"/>
            <a:ext cx="10332720" cy="1371600"/>
          </a:xfrm>
          <a:prstGeom prst="roundRect">
            <a:avLst/>
          </a:prstGeom>
          <a:noFill/>
          <a:ln w="19050">
            <a:solidFill>
              <a:srgbClr val="1B3A5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1E3A"/>
                </a:solidFill>
                <a:latin typeface="Inter"/>
              </a:defRPr>
            </a:pPr>
            <a:r>
              <a:t>YOUR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02C"/>
                </a:solidFill>
                <a:latin typeface="Noto Sans JP"/>
              </a:defRPr>
            </a:pPr>
            <a:r>
              <a:t>結論：条件付きでどう進めるか  (Yes if / No because + option)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320040"/>
            <a:ext cx="1463040" cy="32004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WORKSHOP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30日アクション宣言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0" y="320040"/>
            <a:ext cx="1645920" cy="411480"/>
          </a:xfrm>
          <a:prstGeom prst="roundRect">
            <a:avLst/>
          </a:prstGeom>
          <a:solidFill>
            <a:srgbClr val="0F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  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02C"/>
                </a:solidFill>
                <a:latin typeface="Noto Sans JP"/>
              </a:defRPr>
            </a:pPr>
            <a:r>
              <a:t>30日でやる"たった1つ"の行動を宣言する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Noto Sans JP"/>
              </a:defRPr>
            </a:pPr>
            <a:r>
              <a:t>小さくても「完了」できるサイズに切り出すことが重要です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3017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8760" y="3063240"/>
            <a:ext cx="1371600" cy="2743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</a:defRPr>
            </a:pPr>
            <a:r>
              <a:t>  例：リサーチ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02C"/>
                </a:solidFill>
                <a:latin typeface="Noto Sans JP"/>
              </a:defRPr>
            </a:pPr>
            <a:r>
              <a:t>Life Breezeの展開国に</a:t>
            </a:r>
            <a:br/>
            <a:r>
              <a:t>ついて1つ調べ、</a:t>
            </a:r>
            <a:br/>
            <a:r>
              <a:t>チームに共有する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926080"/>
            <a:ext cx="3017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80" y="3063240"/>
            <a:ext cx="13716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</a:defRPr>
            </a:pPr>
            <a:r>
              <a:t>  例：学びの共有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02C"/>
                </a:solidFill>
                <a:latin typeface="Noto Sans JP"/>
              </a:defRPr>
            </a:pPr>
            <a:r>
              <a:t>毎週の学びを1つ、</a:t>
            </a:r>
            <a:br/>
            <a:r>
              <a:t>テキストでチームに</a:t>
            </a:r>
            <a:br/>
            <a:r>
              <a:t>送る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926080"/>
            <a:ext cx="3017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3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3063240"/>
            <a:ext cx="1371600" cy="274320"/>
          </a:xfrm>
          <a:prstGeom prst="round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 JP"/>
              </a:defRPr>
            </a:pPr>
            <a:r>
              <a:t>  例：現場理解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02C"/>
                </a:solidFill>
                <a:latin typeface="Noto Sans JP"/>
              </a:defRPr>
            </a:pPr>
            <a:r>
              <a:t>現地スタッフの日報を</a:t>
            </a:r>
            <a:br/>
            <a:r>
              <a:t>1週間読み、</a:t>
            </a:r>
            <a:br/>
            <a:r>
              <a:t>気づきをまとめる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486400"/>
            <a:ext cx="9418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Noto Sans JP"/>
              </a:defRPr>
            </a:pPr>
            <a:r>
              <a:t>私は30日以内に「_______________」をやります。それは Value ___につながる行動です。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07040" y="320040"/>
            <a:ext cx="201168" cy="20116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3A5C"/>
                </a:solidFill>
                <a:latin typeface="Noto Sans JP"/>
              </a:defRPr>
            </a:pPr>
            <a:r>
              <a:t>Life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02C"/>
                </a:solidFill>
                <a:latin typeface="Noto Sans JP"/>
              </a:defRPr>
            </a:pPr>
            <a: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68680"/>
            <a:ext cx="10972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Inter"/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02C"/>
                </a:solidFill>
                <a:latin typeface="Noto Sans JP"/>
              </a:defRPr>
            </a:pPr>
            <a:r>
              <a:t>私たちは"仕組み"で</a:t>
            </a:r>
            <a:br/>
            <a:r>
              <a:t>笑顔と可能性がめぐる未来をつくる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338328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2194560"/>
            <a:ext cx="731520" cy="731520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Inter"/>
              </a:defRPr>
            </a:pPr>
            <a:r>
              <a:t>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Noto Sans JP"/>
              </a:defRPr>
            </a:pPr>
            <a:r>
              <a:t>使命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202C"/>
                </a:solidFill>
                <a:latin typeface="Noto Sans JP"/>
              </a:defRPr>
            </a:pPr>
            <a:r>
              <a:t>笑顔と可能性が</a:t>
            </a:r>
            <a:br/>
            <a:r>
              <a:t>めぐる未来をつくる。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Inter"/>
              </a:defRPr>
            </a:pPr>
            <a:r>
              <a:t>Create a future where</a:t>
            </a:r>
            <a:br/>
            <a:r>
              <a:t>smiles and possibilities grow.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338328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2194560"/>
            <a:ext cx="731520" cy="731520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Inter"/>
              </a:defRPr>
            </a:pPr>
            <a:r>
              <a:t>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918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Noto Sans JP"/>
              </a:defRPr>
            </a:pPr>
            <a:r>
              <a:t>将来像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11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202C"/>
                </a:solidFill>
                <a:latin typeface="Noto Sans JP"/>
              </a:defRPr>
            </a:pPr>
            <a:r>
              <a:t>誰もが、自分の時間を</a:t>
            </a:r>
            <a:br/>
            <a:r>
              <a:t>力に変え、前へ進める</a:t>
            </a:r>
            <a:br/>
            <a:r>
              <a:t>世界をつくる。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Inter"/>
              </a:defRPr>
            </a:pPr>
            <a:r>
              <a:t>Build a world where people</a:t>
            </a:r>
            <a:br/>
            <a:r>
              <a:t>turn time into strength.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011680"/>
            <a:ext cx="338328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40" y="2194560"/>
            <a:ext cx="731520" cy="731520"/>
          </a:xfrm>
          <a:prstGeom prst="ellipse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Inter"/>
              </a:defRPr>
            </a:pPr>
            <a:r>
              <a:t>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2918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Noto Sans JP"/>
              </a:defRPr>
            </a:pPr>
            <a:r>
              <a:t>行動指針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611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202C"/>
                </a:solidFill>
                <a:latin typeface="Noto Sans JP"/>
              </a:defRPr>
            </a:pPr>
            <a:r>
              <a:t>現場 / 好奇心 / 笑顔</a:t>
            </a:r>
            <a:br/>
            <a:r>
              <a:t>つなぐ / 利他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Inter"/>
              </a:defRPr>
            </a:pPr>
            <a:r>
              <a:t>5 values that define</a:t>
            </a:r>
            <a:br/>
            <a:r>
              <a:t>how we act.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1097280"/>
          </a:xfrm>
          <a:prstGeom prst="rect">
            <a:avLst/>
          </a:prstGeom>
          <a:solidFill>
            <a:srgbClr val="0F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41E3A"/>
                </a:solidFill>
                <a:latin typeface="Inter"/>
              </a:defRPr>
            </a:pPr>
            <a:r>
              <a:t>NEXT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JP"/>
              </a:defRPr>
            </a:pPr>
            <a:r>
              <a:t>明日から、30日アクションを1回実行する。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Inter"/>
              </a:defRPr>
            </a:pPr>
            <a:r>
              <a:t>Starting tomorrow — execute your 30-day action once.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Life Breeze Inc.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Noto Sans JP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